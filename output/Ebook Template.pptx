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30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2E45"/>
    <a:srgbClr val="F5F5F9"/>
    <a:srgbClr val="FAFEE6"/>
    <a:srgbClr val="E3F8EE"/>
    <a:srgbClr val="FEFEE1"/>
    <a:srgbClr val="72DB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43" d="100"/>
          <a:sy n="43" d="100"/>
        </p:scale>
        <p:origin x="2640" y="54"/>
      </p:cViewPr>
      <p:guideLst>
        <p:guide orient="horz" pos="4032"/>
        <p:guide pos="30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F1D81-8BBD-4374-A37F-1C2227A0C928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C877-560F-4615-BD26-827894E680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9715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F1D81-8BBD-4374-A37F-1C2227A0C928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C877-560F-4615-BD26-827894E680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7713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F1D81-8BBD-4374-A37F-1C2227A0C928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C877-560F-4615-BD26-827894E680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0669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F1D81-8BBD-4374-A37F-1C2227A0C928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C877-560F-4615-BD26-827894E680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295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F1D81-8BBD-4374-A37F-1C2227A0C928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C877-560F-4615-BD26-827894E680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213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F1D81-8BBD-4374-A37F-1C2227A0C928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C877-560F-4615-BD26-827894E680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879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F1D81-8BBD-4374-A37F-1C2227A0C928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C877-560F-4615-BD26-827894E680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6818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F1D81-8BBD-4374-A37F-1C2227A0C928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C877-560F-4615-BD26-827894E680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9217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F1D81-8BBD-4374-A37F-1C2227A0C928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C877-560F-4615-BD26-827894E680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1109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F1D81-8BBD-4374-A37F-1C2227A0C928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C877-560F-4615-BD26-827894E680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733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F1D81-8BBD-4374-A37F-1C2227A0C928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C877-560F-4615-BD26-827894E680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6794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8F1D81-8BBD-4374-A37F-1C2227A0C928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1CC877-560F-4615-BD26-827894E6809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886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BA8C9B68-2F6B-9551-AF32-42C401DF03B2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rgbClr val="2C2E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" name="Imagem 4" descr="Imagem digital fictícia de personagem de desenho animado&#10;&#10;Descrição gerada automaticamente com confiança média">
            <a:extLst>
              <a:ext uri="{FF2B5EF4-FFF2-40B4-BE49-F238E27FC236}">
                <a16:creationId xmlns:a16="http://schemas.microsoft.com/office/drawing/2014/main" id="{60690957-CA43-1E7E-ADF2-D25FC6423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492" y="550747"/>
            <a:ext cx="7906215" cy="7906215"/>
          </a:xfrm>
          <a:prstGeom prst="rect">
            <a:avLst/>
          </a:prstGeom>
        </p:spPr>
      </p:pic>
      <p:pic>
        <p:nvPicPr>
          <p:cNvPr id="10" name="Imagem 9" descr="Ícone&#10;&#10;Descrição gerada automaticamente">
            <a:extLst>
              <a:ext uri="{FF2B5EF4-FFF2-40B4-BE49-F238E27FC236}">
                <a16:creationId xmlns:a16="http://schemas.microsoft.com/office/drawing/2014/main" id="{D4F04281-3A3A-9414-DEDE-BEE2A08224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6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28" b="9395"/>
          <a:stretch/>
        </p:blipFill>
        <p:spPr>
          <a:xfrm>
            <a:off x="3077737" y="8456962"/>
            <a:ext cx="3764516" cy="3793891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4FE4F91-CA69-EC71-1314-94083968AB8D}"/>
              </a:ext>
            </a:extLst>
          </p:cNvPr>
          <p:cNvSpPr txBox="1"/>
          <p:nvPr/>
        </p:nvSpPr>
        <p:spPr>
          <a:xfrm>
            <a:off x="-518533" y="9559974"/>
            <a:ext cx="10638264" cy="1107996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6600" b="1" dirty="0">
                <a:ln w="44450">
                  <a:solidFill>
                    <a:srgbClr val="FEFEE1"/>
                  </a:solidFill>
                </a:ln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LPixel" panose="00000400000000000000" pitchFamily="2" charset="0"/>
                <a:ea typeface="LLPixel" panose="00000400000000000000" pitchFamily="2" charset="0"/>
                <a:cs typeface="ADLaM Display" panose="020F0502020204030204" pitchFamily="2" charset="0"/>
              </a:rPr>
              <a:t>DO NOOB AO MASTER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C5686A2-5813-B29A-5731-0255A4507ADB}"/>
              </a:ext>
            </a:extLst>
          </p:cNvPr>
          <p:cNvSpPr txBox="1"/>
          <p:nvPr/>
        </p:nvSpPr>
        <p:spPr>
          <a:xfrm>
            <a:off x="-518533" y="10390212"/>
            <a:ext cx="10638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ln w="12700">
                  <a:solidFill>
                    <a:srgbClr val="E3F8EE"/>
                  </a:solidFill>
                </a:ln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LPixel" panose="00000400000000000000" pitchFamily="2" charset="0"/>
                <a:ea typeface="LLPixel" panose="00000400000000000000" pitchFamily="2" charset="0"/>
                <a:cs typeface="ADLaM Display" panose="020F0502020204030204" pitchFamily="2" charset="0"/>
              </a:rPr>
              <a:t>Subindo de nível com Python</a:t>
            </a:r>
          </a:p>
        </p:txBody>
      </p:sp>
    </p:spTree>
    <p:extLst>
      <p:ext uri="{BB962C8B-B14F-4D97-AF65-F5344CB8AC3E}">
        <p14:creationId xmlns:p14="http://schemas.microsoft.com/office/powerpoint/2010/main" val="1537256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02D14F6-4272-4915-47E3-B7674E71684E}"/>
              </a:ext>
            </a:extLst>
          </p:cNvPr>
          <p:cNvSpPr txBox="1"/>
          <p:nvPr/>
        </p:nvSpPr>
        <p:spPr>
          <a:xfrm>
            <a:off x="1170878" y="5062654"/>
            <a:ext cx="7449015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Bem-vindo ao mundo da programação com Python! Se você sempre quis aprender a programar, mas achou que era complicado demais, este </a:t>
            </a:r>
            <a:r>
              <a:rPr lang="pt-BR" sz="2400" dirty="0" err="1"/>
              <a:t>eBook</a:t>
            </a:r>
            <a:r>
              <a:rPr lang="pt-BR" sz="2400" dirty="0"/>
              <a:t> é para você. Vamos explorar a linguagem Python de uma maneira divertida e descomplicada, usando analogias com jogos e personagens que você conhece e adora. Prepare-se para subir de nível e se tornar um herói da programação!</a:t>
            </a: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23433BF-DA6F-A36C-B8F2-5A24B33AE61C}"/>
              </a:ext>
            </a:extLst>
          </p:cNvPr>
          <p:cNvSpPr txBox="1"/>
          <p:nvPr/>
        </p:nvSpPr>
        <p:spPr>
          <a:xfrm>
            <a:off x="1248936" y="3954658"/>
            <a:ext cx="710332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dirty="0"/>
              <a:t>Introdução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886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BC33934-6DB4-336C-E922-4C83B01F2A9B}"/>
              </a:ext>
            </a:extLst>
          </p:cNvPr>
          <p:cNvSpPr txBox="1"/>
          <p:nvPr/>
        </p:nvSpPr>
        <p:spPr>
          <a:xfrm>
            <a:off x="126845" y="3852076"/>
            <a:ext cx="93475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dirty="0">
                <a:solidFill>
                  <a:srgbClr val="FFC000"/>
                </a:solidFill>
                <a:latin typeface="LLPixel" panose="00000400000000000000" pitchFamily="2" charset="0"/>
                <a:ea typeface="LLPixel" panose="00000400000000000000" pitchFamily="2" charset="0"/>
              </a:rPr>
              <a:t>Primeira Fase </a:t>
            </a:r>
          </a:p>
          <a:p>
            <a:pPr algn="ctr"/>
            <a:r>
              <a:rPr lang="pt-BR" sz="5400" dirty="0">
                <a:solidFill>
                  <a:srgbClr val="FFC000"/>
                </a:solidFill>
                <a:latin typeface="LLPixel" panose="00000400000000000000" pitchFamily="2" charset="0"/>
                <a:ea typeface="LLPixel" panose="00000400000000000000" pitchFamily="2" charset="0"/>
              </a:rPr>
              <a:t> Entendendo o Território</a:t>
            </a:r>
          </a:p>
        </p:txBody>
      </p:sp>
      <p:pic>
        <p:nvPicPr>
          <p:cNvPr id="4" name="Imagem 3" descr="Uma imagem contendo Logotipo&#10;&#10;Descrição gerada automaticamente">
            <a:extLst>
              <a:ext uri="{FF2B5EF4-FFF2-40B4-BE49-F238E27FC236}">
                <a16:creationId xmlns:a16="http://schemas.microsoft.com/office/drawing/2014/main" id="{FBA2C15C-FF43-6323-2A3A-E15F93CA67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18" b="20927"/>
          <a:stretch/>
        </p:blipFill>
        <p:spPr>
          <a:xfrm>
            <a:off x="2318597" y="6246917"/>
            <a:ext cx="4964005" cy="3047629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6831C0E-633C-E261-6909-447BADA4C16F}"/>
              </a:ext>
            </a:extLst>
          </p:cNvPr>
          <p:cNvSpPr txBox="1"/>
          <p:nvPr/>
        </p:nvSpPr>
        <p:spPr>
          <a:xfrm>
            <a:off x="2397512" y="1554934"/>
            <a:ext cx="4806174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600" dirty="0">
                <a:solidFill>
                  <a:srgbClr val="00B0F0"/>
                </a:solidFill>
                <a:latin typeface="LLPixel" panose="00000400000000000000" pitchFamily="2" charset="0"/>
                <a:ea typeface="LLPixel" panose="00000400000000000000" pitchFamily="2" charset="0"/>
              </a:rPr>
              <a:t>1</a:t>
            </a:r>
            <a:endParaRPr lang="pt-BR" sz="16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838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5055D1A3-6400-A224-9CFC-3CF80F89B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-2438447"/>
            <a:ext cx="1625605" cy="502553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02D14F6-4272-4915-47E3-B7674E71684E}"/>
              </a:ext>
            </a:extLst>
          </p:cNvPr>
          <p:cNvSpPr txBox="1"/>
          <p:nvPr/>
        </p:nvSpPr>
        <p:spPr>
          <a:xfrm>
            <a:off x="1349298" y="2207941"/>
            <a:ext cx="7449015" cy="7971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O que é Python?</a:t>
            </a:r>
          </a:p>
          <a:p>
            <a:endParaRPr lang="pt-BR" sz="3200" b="1" dirty="0"/>
          </a:p>
          <a:p>
            <a:r>
              <a:rPr lang="pt-BR" sz="2400" dirty="0"/>
              <a:t>Python é como o manual de um jogo: ele te dá as regras e ferramentas para criar algo incrível. Assim como em um RPG, onde você precisa aprender as habilidades do seu personagem, em Python você aprenderá comandos que permitem criar programas úteis e divertidos.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r>
              <a:rPr lang="pt-BR" sz="3200" b="1" dirty="0"/>
              <a:t>Instalando Python</a:t>
            </a:r>
          </a:p>
          <a:p>
            <a:endParaRPr lang="pt-BR" sz="3200" b="1" dirty="0"/>
          </a:p>
          <a:p>
            <a:r>
              <a:rPr lang="pt-BR" sz="2400" dirty="0"/>
              <a:t>Para começar nossa aventura, você precisa instalar Python no seu computador. Pense nisso como baixar um jogo novo para sua plataforma favorita.</a:t>
            </a:r>
          </a:p>
          <a:p>
            <a:pPr lvl="1">
              <a:buFont typeface="+mj-lt"/>
              <a:buAutoNum type="arabicPeriod"/>
            </a:pPr>
            <a:r>
              <a:rPr lang="pt-BR" sz="2400" dirty="0"/>
              <a:t>Acesse </a:t>
            </a:r>
            <a:r>
              <a:rPr lang="pt-BR" sz="2400" dirty="0">
                <a:hlinkClick r:id="rId3"/>
              </a:rPr>
              <a:t>python.org</a:t>
            </a:r>
            <a:r>
              <a:rPr lang="pt-BR" sz="2400" dirty="0"/>
              <a:t> e baixe a versão mais recente.</a:t>
            </a:r>
          </a:p>
          <a:p>
            <a:pPr lvl="1">
              <a:buFont typeface="+mj-lt"/>
              <a:buAutoNum type="arabicPeriod"/>
            </a:pPr>
            <a:r>
              <a:rPr lang="pt-BR" sz="2400" dirty="0"/>
              <a:t>Siga as instruções de instalação. É como seguir um tutorial para configurar um jogo pela primeira vez.</a:t>
            </a:r>
          </a:p>
        </p:txBody>
      </p:sp>
      <p:pic>
        <p:nvPicPr>
          <p:cNvPr id="6" name="Imagem 5" descr="Uma imagem contendo Logotipo&#10;&#10;Descrição gerada automaticamente">
            <a:extLst>
              <a:ext uri="{FF2B5EF4-FFF2-40B4-BE49-F238E27FC236}">
                <a16:creationId xmlns:a16="http://schemas.microsoft.com/office/drawing/2014/main" id="{319AB0C0-D378-8460-141D-F82AE53761D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18" b="20927"/>
          <a:stretch/>
        </p:blipFill>
        <p:spPr>
          <a:xfrm>
            <a:off x="3729654" y="10968067"/>
            <a:ext cx="2141891" cy="131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943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BC33934-6DB4-336C-E922-4C83B01F2A9B}"/>
              </a:ext>
            </a:extLst>
          </p:cNvPr>
          <p:cNvSpPr txBox="1"/>
          <p:nvPr/>
        </p:nvSpPr>
        <p:spPr>
          <a:xfrm>
            <a:off x="126845" y="3852076"/>
            <a:ext cx="93475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dirty="0">
                <a:solidFill>
                  <a:srgbClr val="FFC000"/>
                </a:solidFill>
                <a:latin typeface="LLPixel" panose="00000400000000000000" pitchFamily="2" charset="0"/>
                <a:ea typeface="LLPixel" panose="00000400000000000000" pitchFamily="2" charset="0"/>
              </a:rPr>
              <a:t>Primeiros Passos</a:t>
            </a:r>
          </a:p>
          <a:p>
            <a:pPr algn="ctr"/>
            <a:r>
              <a:rPr lang="pt-BR" sz="5400" dirty="0">
                <a:solidFill>
                  <a:srgbClr val="FFC000"/>
                </a:solidFill>
                <a:latin typeface="LLPixel" panose="00000400000000000000" pitchFamily="2" charset="0"/>
                <a:ea typeface="LLPixel" panose="00000400000000000000" pitchFamily="2" charset="0"/>
              </a:rPr>
              <a:t> Movendo Seu Personagem</a:t>
            </a:r>
          </a:p>
        </p:txBody>
      </p:sp>
      <p:pic>
        <p:nvPicPr>
          <p:cNvPr id="4" name="Imagem 3" descr="Uma imagem contendo Logotipo&#10;&#10;Descrição gerada automaticamente">
            <a:extLst>
              <a:ext uri="{FF2B5EF4-FFF2-40B4-BE49-F238E27FC236}">
                <a16:creationId xmlns:a16="http://schemas.microsoft.com/office/drawing/2014/main" id="{FBA2C15C-FF43-6323-2A3A-E15F93CA67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18" b="20927"/>
          <a:stretch/>
        </p:blipFill>
        <p:spPr>
          <a:xfrm>
            <a:off x="2318597" y="6246917"/>
            <a:ext cx="4964005" cy="3047629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3D6D9F7-384B-B3BF-1E27-AADD6E9ED4A1}"/>
              </a:ext>
            </a:extLst>
          </p:cNvPr>
          <p:cNvSpPr txBox="1"/>
          <p:nvPr/>
        </p:nvSpPr>
        <p:spPr>
          <a:xfrm>
            <a:off x="2397512" y="1554934"/>
            <a:ext cx="4806174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600" dirty="0">
                <a:solidFill>
                  <a:srgbClr val="00B0F0"/>
                </a:solidFill>
                <a:latin typeface="LLPixel" panose="00000400000000000000" pitchFamily="2" charset="0"/>
                <a:ea typeface="LLPixel" panose="00000400000000000000" pitchFamily="2" charset="0"/>
              </a:rPr>
              <a:t>2</a:t>
            </a:r>
            <a:endParaRPr lang="pt-BR" sz="16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353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5055D1A3-6400-A224-9CFC-3CF80F89B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-2438447"/>
            <a:ext cx="1625605" cy="502553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02D14F6-4272-4915-47E3-B7674E71684E}"/>
              </a:ext>
            </a:extLst>
          </p:cNvPr>
          <p:cNvSpPr txBox="1"/>
          <p:nvPr/>
        </p:nvSpPr>
        <p:spPr>
          <a:xfrm>
            <a:off x="1076091" y="2840810"/>
            <a:ext cx="744901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Olá, Mundo!</a:t>
            </a:r>
          </a:p>
          <a:p>
            <a:r>
              <a:rPr lang="pt-BR" sz="2400" dirty="0"/>
              <a:t>Nos jogos, você começa aprendendo a mover seu personagem. Em Python, o equivalente é escrever seu primeiro código: "Olá, Mundo!"</a:t>
            </a:r>
          </a:p>
        </p:txBody>
      </p:sp>
      <p:pic>
        <p:nvPicPr>
          <p:cNvPr id="6" name="Imagem 5" descr="Uma imagem contendo Logotipo&#10;&#10;Descrição gerada automaticamente">
            <a:extLst>
              <a:ext uri="{FF2B5EF4-FFF2-40B4-BE49-F238E27FC236}">
                <a16:creationId xmlns:a16="http://schemas.microsoft.com/office/drawing/2014/main" id="{319AB0C0-D378-8460-141D-F82AE53761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18" b="20927"/>
          <a:stretch/>
        </p:blipFill>
        <p:spPr>
          <a:xfrm>
            <a:off x="3729654" y="10968067"/>
            <a:ext cx="2141891" cy="131500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56BB4DE1-B3FA-0CB2-210E-ECF87CCC3EE3}"/>
              </a:ext>
            </a:extLst>
          </p:cNvPr>
          <p:cNvSpPr txBox="1"/>
          <p:nvPr/>
        </p:nvSpPr>
        <p:spPr>
          <a:xfrm>
            <a:off x="1076091" y="8071732"/>
            <a:ext cx="74490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Esse comando simples faz com que o Python exiba a mensagem "Olá, Mundo!" na tela. É como apertar o botão Start e ver seu personagem aparecer no jogo.</a:t>
            </a:r>
          </a:p>
        </p:txBody>
      </p:sp>
      <p:pic>
        <p:nvPicPr>
          <p:cNvPr id="11" name="Imagem 10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DEBF5E50-D3B3-4183-E5C2-AF77126EB2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879" y="4537710"/>
            <a:ext cx="9774953" cy="353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623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BC33934-6DB4-336C-E922-4C83B01F2A9B}"/>
              </a:ext>
            </a:extLst>
          </p:cNvPr>
          <p:cNvSpPr txBox="1"/>
          <p:nvPr/>
        </p:nvSpPr>
        <p:spPr>
          <a:xfrm>
            <a:off x="126845" y="3852076"/>
            <a:ext cx="93475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dirty="0">
                <a:solidFill>
                  <a:srgbClr val="FFC000"/>
                </a:solidFill>
                <a:latin typeface="LLPixel" panose="00000400000000000000" pitchFamily="2" charset="0"/>
                <a:ea typeface="LLPixel" panose="00000400000000000000" pitchFamily="2" charset="0"/>
              </a:rPr>
              <a:t>Coletando Recursos Variáveis e Tipos de Dados</a:t>
            </a:r>
          </a:p>
        </p:txBody>
      </p:sp>
      <p:pic>
        <p:nvPicPr>
          <p:cNvPr id="4" name="Imagem 3" descr="Uma imagem contendo Logotipo&#10;&#10;Descrição gerada automaticamente">
            <a:extLst>
              <a:ext uri="{FF2B5EF4-FFF2-40B4-BE49-F238E27FC236}">
                <a16:creationId xmlns:a16="http://schemas.microsoft.com/office/drawing/2014/main" id="{FBA2C15C-FF43-6323-2A3A-E15F93CA67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18" b="20927"/>
          <a:stretch/>
        </p:blipFill>
        <p:spPr>
          <a:xfrm>
            <a:off x="2318597" y="6246917"/>
            <a:ext cx="4964005" cy="3047629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3D6D9F7-384B-B3BF-1E27-AADD6E9ED4A1}"/>
              </a:ext>
            </a:extLst>
          </p:cNvPr>
          <p:cNvSpPr txBox="1"/>
          <p:nvPr/>
        </p:nvSpPr>
        <p:spPr>
          <a:xfrm>
            <a:off x="2397512" y="1554934"/>
            <a:ext cx="4806174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600" dirty="0">
                <a:solidFill>
                  <a:srgbClr val="00B0F0"/>
                </a:solidFill>
                <a:latin typeface="LLPixel" panose="00000400000000000000" pitchFamily="2" charset="0"/>
                <a:ea typeface="LLPixel" panose="00000400000000000000" pitchFamily="2" charset="0"/>
              </a:rPr>
              <a:t>3</a:t>
            </a:r>
            <a:endParaRPr lang="pt-BR" sz="16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1289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5055D1A3-6400-A224-9CFC-3CF80F89B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-2512765"/>
            <a:ext cx="1625605" cy="502553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02D14F6-4272-4915-47E3-B7674E71684E}"/>
              </a:ext>
            </a:extLst>
          </p:cNvPr>
          <p:cNvSpPr txBox="1"/>
          <p:nvPr/>
        </p:nvSpPr>
        <p:spPr>
          <a:xfrm>
            <a:off x="1076090" y="2714219"/>
            <a:ext cx="7449015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O que são Variáveis?</a:t>
            </a:r>
          </a:p>
          <a:p>
            <a:r>
              <a:rPr lang="pt-BR" sz="2400" dirty="0"/>
              <a:t>Imagine que variáveis são como inventários em jogos. Você pode armazenar diferentes tipos de itens, como números e textos.</a:t>
            </a:r>
          </a:p>
        </p:txBody>
      </p:sp>
      <p:pic>
        <p:nvPicPr>
          <p:cNvPr id="6" name="Imagem 5" descr="Uma imagem contendo Logotipo&#10;&#10;Descrição gerada automaticamente">
            <a:extLst>
              <a:ext uri="{FF2B5EF4-FFF2-40B4-BE49-F238E27FC236}">
                <a16:creationId xmlns:a16="http://schemas.microsoft.com/office/drawing/2014/main" id="{319AB0C0-D378-8460-141D-F82AE53761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18" b="20927"/>
          <a:stretch/>
        </p:blipFill>
        <p:spPr>
          <a:xfrm>
            <a:off x="3729654" y="10968067"/>
            <a:ext cx="2141891" cy="131500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56BB4DE1-B3FA-0CB2-210E-ECF87CCC3EE3}"/>
              </a:ext>
            </a:extLst>
          </p:cNvPr>
          <p:cNvSpPr txBox="1"/>
          <p:nvPr/>
        </p:nvSpPr>
        <p:spPr>
          <a:xfrm>
            <a:off x="1349297" y="7983201"/>
            <a:ext cx="74490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Aqui, ‘vida’ é uma variável que guarda um número, e ‘</a:t>
            </a:r>
            <a:r>
              <a:rPr lang="pt-BR" sz="2400" dirty="0" err="1"/>
              <a:t>nome_do_jogador</a:t>
            </a:r>
            <a:r>
              <a:rPr lang="pt-BR" sz="2400" dirty="0"/>
              <a:t>’ guarda um texto.</a:t>
            </a:r>
          </a:p>
        </p:txBody>
      </p:sp>
      <p:pic>
        <p:nvPicPr>
          <p:cNvPr id="8" name="Imagem 7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444DBF3E-D290-E703-A499-29510F1086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14" y="4724572"/>
            <a:ext cx="9272748" cy="335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257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BC33934-6DB4-336C-E922-4C83B01F2A9B}"/>
              </a:ext>
            </a:extLst>
          </p:cNvPr>
          <p:cNvSpPr txBox="1"/>
          <p:nvPr/>
        </p:nvSpPr>
        <p:spPr>
          <a:xfrm>
            <a:off x="126845" y="3852076"/>
            <a:ext cx="93475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dirty="0">
                <a:solidFill>
                  <a:srgbClr val="FFC000"/>
                </a:solidFill>
                <a:latin typeface="LLPixel" panose="00000400000000000000" pitchFamily="2" charset="0"/>
                <a:ea typeface="LLPixel" panose="00000400000000000000" pitchFamily="2" charset="0"/>
              </a:rPr>
              <a:t>Missões e Desafios Estruturas de Controle</a:t>
            </a:r>
          </a:p>
        </p:txBody>
      </p:sp>
      <p:pic>
        <p:nvPicPr>
          <p:cNvPr id="4" name="Imagem 3" descr="Uma imagem contendo Logotipo&#10;&#10;Descrição gerada automaticamente">
            <a:extLst>
              <a:ext uri="{FF2B5EF4-FFF2-40B4-BE49-F238E27FC236}">
                <a16:creationId xmlns:a16="http://schemas.microsoft.com/office/drawing/2014/main" id="{FBA2C15C-FF43-6323-2A3A-E15F93CA67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18" b="20927"/>
          <a:stretch/>
        </p:blipFill>
        <p:spPr>
          <a:xfrm>
            <a:off x="2318597" y="6246917"/>
            <a:ext cx="4964005" cy="3047629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3D6D9F7-384B-B3BF-1E27-AADD6E9ED4A1}"/>
              </a:ext>
            </a:extLst>
          </p:cNvPr>
          <p:cNvSpPr txBox="1"/>
          <p:nvPr/>
        </p:nvSpPr>
        <p:spPr>
          <a:xfrm>
            <a:off x="2397512" y="1554934"/>
            <a:ext cx="4806174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600" dirty="0">
                <a:solidFill>
                  <a:srgbClr val="00B0F0"/>
                </a:solidFill>
                <a:latin typeface="LLPixel" panose="00000400000000000000" pitchFamily="2" charset="0"/>
                <a:ea typeface="LLPixel" panose="00000400000000000000" pitchFamily="2" charset="0"/>
              </a:rPr>
              <a:t>4</a:t>
            </a:r>
            <a:endParaRPr lang="pt-BR" sz="16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916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5055D1A3-6400-A224-9CFC-3CF80F89B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-2512765"/>
            <a:ext cx="1625605" cy="502553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02D14F6-4272-4915-47E3-B7674E71684E}"/>
              </a:ext>
            </a:extLst>
          </p:cNvPr>
          <p:cNvSpPr txBox="1"/>
          <p:nvPr/>
        </p:nvSpPr>
        <p:spPr>
          <a:xfrm>
            <a:off x="1076089" y="2711976"/>
            <a:ext cx="74490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Condicionais</a:t>
            </a:r>
          </a:p>
          <a:p>
            <a:r>
              <a:rPr lang="pt-BR" sz="2400" dirty="0"/>
              <a:t>Condicionais são como decisões em um jogo. Se você encontrar um inimigo, pode decidir atacar ou fugir.</a:t>
            </a:r>
          </a:p>
        </p:txBody>
      </p:sp>
      <p:pic>
        <p:nvPicPr>
          <p:cNvPr id="6" name="Imagem 5" descr="Uma imagem contendo Logotipo&#10;&#10;Descrição gerada automaticamente">
            <a:extLst>
              <a:ext uri="{FF2B5EF4-FFF2-40B4-BE49-F238E27FC236}">
                <a16:creationId xmlns:a16="http://schemas.microsoft.com/office/drawing/2014/main" id="{319AB0C0-D378-8460-141D-F82AE53761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18" b="20927"/>
          <a:stretch/>
        </p:blipFill>
        <p:spPr>
          <a:xfrm>
            <a:off x="3729654" y="10968067"/>
            <a:ext cx="2141891" cy="131500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56BB4DE1-B3FA-0CB2-210E-ECF87CCC3EE3}"/>
              </a:ext>
            </a:extLst>
          </p:cNvPr>
          <p:cNvSpPr txBox="1"/>
          <p:nvPr/>
        </p:nvSpPr>
        <p:spPr>
          <a:xfrm>
            <a:off x="1076090" y="9080408"/>
            <a:ext cx="74490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Esse código verifica se sua vida está baixa e mostra uma mensagem apropriada, assim como um jogo alerta quando seu personagem está em perigo.</a:t>
            </a:r>
          </a:p>
        </p:txBody>
      </p:sp>
      <p:pic>
        <p:nvPicPr>
          <p:cNvPr id="5" name="Imagem 4" descr="Texto&#10;&#10;Descrição gerada automaticamente">
            <a:extLst>
              <a:ext uri="{FF2B5EF4-FFF2-40B4-BE49-F238E27FC236}">
                <a16:creationId xmlns:a16="http://schemas.microsoft.com/office/drawing/2014/main" id="{DC8443AC-AF2F-3E45-5538-2BAEC9CA70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93" y="3832446"/>
            <a:ext cx="8886611" cy="4750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692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BC33934-6DB4-336C-E922-4C83B01F2A9B}"/>
              </a:ext>
            </a:extLst>
          </p:cNvPr>
          <p:cNvSpPr txBox="1"/>
          <p:nvPr/>
        </p:nvSpPr>
        <p:spPr>
          <a:xfrm>
            <a:off x="126845" y="3852076"/>
            <a:ext cx="93475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dirty="0">
                <a:solidFill>
                  <a:srgbClr val="FFC000"/>
                </a:solidFill>
                <a:latin typeface="LLPixel" panose="00000400000000000000" pitchFamily="2" charset="0"/>
                <a:ea typeface="LLPixel" panose="00000400000000000000" pitchFamily="2" charset="0"/>
              </a:rPr>
              <a:t>Funções</a:t>
            </a:r>
          </a:p>
          <a:p>
            <a:pPr algn="ctr"/>
            <a:r>
              <a:rPr lang="pt-BR" sz="5400" dirty="0">
                <a:solidFill>
                  <a:srgbClr val="FFC000"/>
                </a:solidFill>
                <a:latin typeface="LLPixel" panose="00000400000000000000" pitchFamily="2" charset="0"/>
                <a:ea typeface="LLPixel" panose="00000400000000000000" pitchFamily="2" charset="0"/>
              </a:rPr>
              <a:t>Companheiros de Equipe</a:t>
            </a:r>
          </a:p>
        </p:txBody>
      </p:sp>
      <p:pic>
        <p:nvPicPr>
          <p:cNvPr id="4" name="Imagem 3" descr="Uma imagem contendo Logotipo&#10;&#10;Descrição gerada automaticamente">
            <a:extLst>
              <a:ext uri="{FF2B5EF4-FFF2-40B4-BE49-F238E27FC236}">
                <a16:creationId xmlns:a16="http://schemas.microsoft.com/office/drawing/2014/main" id="{FBA2C15C-FF43-6323-2A3A-E15F93CA67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18" b="20927"/>
          <a:stretch/>
        </p:blipFill>
        <p:spPr>
          <a:xfrm>
            <a:off x="2318597" y="6246917"/>
            <a:ext cx="4964005" cy="3047629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3D6D9F7-384B-B3BF-1E27-AADD6E9ED4A1}"/>
              </a:ext>
            </a:extLst>
          </p:cNvPr>
          <p:cNvSpPr txBox="1"/>
          <p:nvPr/>
        </p:nvSpPr>
        <p:spPr>
          <a:xfrm>
            <a:off x="2397512" y="1554934"/>
            <a:ext cx="4806174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600" dirty="0">
                <a:solidFill>
                  <a:srgbClr val="00B0F0"/>
                </a:solidFill>
                <a:latin typeface="LLPixel" panose="00000400000000000000" pitchFamily="2" charset="0"/>
                <a:ea typeface="LLPixel" panose="00000400000000000000" pitchFamily="2" charset="0"/>
              </a:rPr>
              <a:t>5</a:t>
            </a:r>
            <a:endParaRPr lang="pt-BR" sz="16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950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5055D1A3-6400-A224-9CFC-3CF80F89B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-2512765"/>
            <a:ext cx="1625605" cy="502553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02D14F6-4272-4915-47E3-B7674E71684E}"/>
              </a:ext>
            </a:extLst>
          </p:cNvPr>
          <p:cNvSpPr txBox="1"/>
          <p:nvPr/>
        </p:nvSpPr>
        <p:spPr>
          <a:xfrm>
            <a:off x="1076090" y="2553826"/>
            <a:ext cx="74490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Criando Funções</a:t>
            </a:r>
          </a:p>
          <a:p>
            <a:r>
              <a:rPr lang="pt-BR" sz="2400" dirty="0"/>
              <a:t>Funções são como habilidades especiais que você pode usar em qualquer momento do jogo.</a:t>
            </a:r>
          </a:p>
        </p:txBody>
      </p:sp>
      <p:pic>
        <p:nvPicPr>
          <p:cNvPr id="6" name="Imagem 5" descr="Uma imagem contendo Logotipo&#10;&#10;Descrição gerada automaticamente">
            <a:extLst>
              <a:ext uri="{FF2B5EF4-FFF2-40B4-BE49-F238E27FC236}">
                <a16:creationId xmlns:a16="http://schemas.microsoft.com/office/drawing/2014/main" id="{319AB0C0-D378-8460-141D-F82AE53761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18" b="20927"/>
          <a:stretch/>
        </p:blipFill>
        <p:spPr>
          <a:xfrm>
            <a:off x="3729654" y="10968067"/>
            <a:ext cx="2141891" cy="131500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56BB4DE1-B3FA-0CB2-210E-ECF87CCC3EE3}"/>
              </a:ext>
            </a:extLst>
          </p:cNvPr>
          <p:cNvSpPr txBox="1"/>
          <p:nvPr/>
        </p:nvSpPr>
        <p:spPr>
          <a:xfrm>
            <a:off x="1076090" y="8924335"/>
            <a:ext cx="74490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 função curar aumenta sua vida em 10 pontos. Assim como uma poção de cura em um RPG, você pode usá-la sempre que precisar.</a:t>
            </a:r>
          </a:p>
        </p:txBody>
      </p:sp>
      <p:pic>
        <p:nvPicPr>
          <p:cNvPr id="10" name="Imagem 9" descr="Texto&#10;&#10;Descrição gerada automaticamente">
            <a:extLst>
              <a:ext uri="{FF2B5EF4-FFF2-40B4-BE49-F238E27FC236}">
                <a16:creationId xmlns:a16="http://schemas.microsoft.com/office/drawing/2014/main" id="{872407E1-0EEE-405D-EEA6-02259EBEAE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35" y="3685256"/>
            <a:ext cx="8162327" cy="543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292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BC33934-6DB4-336C-E922-4C83B01F2A9B}"/>
              </a:ext>
            </a:extLst>
          </p:cNvPr>
          <p:cNvSpPr txBox="1"/>
          <p:nvPr/>
        </p:nvSpPr>
        <p:spPr>
          <a:xfrm>
            <a:off x="126845" y="3852076"/>
            <a:ext cx="93475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dirty="0">
                <a:solidFill>
                  <a:srgbClr val="FFC000"/>
                </a:solidFill>
                <a:latin typeface="LLPixel" panose="00000400000000000000" pitchFamily="2" charset="0"/>
                <a:ea typeface="LLPixel" panose="00000400000000000000" pitchFamily="2" charset="0"/>
              </a:rPr>
              <a:t>Listas e Loops</a:t>
            </a:r>
          </a:p>
          <a:p>
            <a:pPr algn="ctr"/>
            <a:r>
              <a:rPr lang="pt-BR" sz="5400" dirty="0">
                <a:solidFill>
                  <a:srgbClr val="FFC000"/>
                </a:solidFill>
                <a:latin typeface="LLPixel" panose="00000400000000000000" pitchFamily="2" charset="0"/>
                <a:ea typeface="LLPixel" panose="00000400000000000000" pitchFamily="2" charset="0"/>
              </a:rPr>
              <a:t>Explorando Novos Mapas</a:t>
            </a:r>
          </a:p>
        </p:txBody>
      </p:sp>
      <p:pic>
        <p:nvPicPr>
          <p:cNvPr id="4" name="Imagem 3" descr="Uma imagem contendo Logotipo&#10;&#10;Descrição gerada automaticamente">
            <a:extLst>
              <a:ext uri="{FF2B5EF4-FFF2-40B4-BE49-F238E27FC236}">
                <a16:creationId xmlns:a16="http://schemas.microsoft.com/office/drawing/2014/main" id="{FBA2C15C-FF43-6323-2A3A-E15F93CA67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18" b="20927"/>
          <a:stretch/>
        </p:blipFill>
        <p:spPr>
          <a:xfrm>
            <a:off x="2318597" y="6246917"/>
            <a:ext cx="4964005" cy="3047629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3D6D9F7-384B-B3BF-1E27-AADD6E9ED4A1}"/>
              </a:ext>
            </a:extLst>
          </p:cNvPr>
          <p:cNvSpPr txBox="1"/>
          <p:nvPr/>
        </p:nvSpPr>
        <p:spPr>
          <a:xfrm>
            <a:off x="2397512" y="1554934"/>
            <a:ext cx="4806174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600" dirty="0">
                <a:solidFill>
                  <a:srgbClr val="00B0F0"/>
                </a:solidFill>
                <a:latin typeface="LLPixel" panose="00000400000000000000" pitchFamily="2" charset="0"/>
                <a:ea typeface="LLPixel" panose="00000400000000000000" pitchFamily="2" charset="0"/>
              </a:rPr>
              <a:t>6</a:t>
            </a:r>
            <a:endParaRPr lang="pt-BR" sz="16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465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5055D1A3-6400-A224-9CFC-3CF80F89B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-2512765"/>
            <a:ext cx="1625605" cy="502553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02D14F6-4272-4915-47E3-B7674E71684E}"/>
              </a:ext>
            </a:extLst>
          </p:cNvPr>
          <p:cNvSpPr txBox="1"/>
          <p:nvPr/>
        </p:nvSpPr>
        <p:spPr>
          <a:xfrm>
            <a:off x="1076091" y="3030373"/>
            <a:ext cx="74490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Listas</a:t>
            </a:r>
          </a:p>
          <a:p>
            <a:r>
              <a:rPr lang="pt-BR" sz="2400" dirty="0"/>
              <a:t>Listas são como mochilas onde você guarda vários itens.</a:t>
            </a:r>
          </a:p>
        </p:txBody>
      </p:sp>
      <p:pic>
        <p:nvPicPr>
          <p:cNvPr id="6" name="Imagem 5" descr="Uma imagem contendo Logotipo&#10;&#10;Descrição gerada automaticamente">
            <a:extLst>
              <a:ext uri="{FF2B5EF4-FFF2-40B4-BE49-F238E27FC236}">
                <a16:creationId xmlns:a16="http://schemas.microsoft.com/office/drawing/2014/main" id="{319AB0C0-D378-8460-141D-F82AE53761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18" b="20927"/>
          <a:stretch/>
        </p:blipFill>
        <p:spPr>
          <a:xfrm>
            <a:off x="3729654" y="10968067"/>
            <a:ext cx="2141891" cy="131500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56BB4DE1-B3FA-0CB2-210E-ECF87CCC3EE3}"/>
              </a:ext>
            </a:extLst>
          </p:cNvPr>
          <p:cNvSpPr txBox="1"/>
          <p:nvPr/>
        </p:nvSpPr>
        <p:spPr>
          <a:xfrm>
            <a:off x="1076091" y="7983201"/>
            <a:ext cx="74490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Este código mostra o primeiro item da lista, como verificar o inventário em um jogo.</a:t>
            </a:r>
          </a:p>
        </p:txBody>
      </p:sp>
      <p:pic>
        <p:nvPicPr>
          <p:cNvPr id="5" name="Imagem 4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08B77A9B-0799-4058-CD80-9D5F237C3F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8769" y="4353812"/>
            <a:ext cx="10038736" cy="362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039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5055D1A3-6400-A224-9CFC-3CF80F89B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-2512765"/>
            <a:ext cx="1625605" cy="502553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02D14F6-4272-4915-47E3-B7674E71684E}"/>
              </a:ext>
            </a:extLst>
          </p:cNvPr>
          <p:cNvSpPr txBox="1"/>
          <p:nvPr/>
        </p:nvSpPr>
        <p:spPr>
          <a:xfrm>
            <a:off x="1039580" y="2743314"/>
            <a:ext cx="74490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Loops</a:t>
            </a:r>
          </a:p>
          <a:p>
            <a:r>
              <a:rPr lang="pt-BR" sz="2400" dirty="0"/>
              <a:t>Loops permitem que você repita ações, como em uma missão onde você coleta vários itens.</a:t>
            </a:r>
          </a:p>
        </p:txBody>
      </p:sp>
      <p:pic>
        <p:nvPicPr>
          <p:cNvPr id="6" name="Imagem 5" descr="Uma imagem contendo Logotipo&#10;&#10;Descrição gerada automaticamente">
            <a:extLst>
              <a:ext uri="{FF2B5EF4-FFF2-40B4-BE49-F238E27FC236}">
                <a16:creationId xmlns:a16="http://schemas.microsoft.com/office/drawing/2014/main" id="{319AB0C0-D378-8460-141D-F82AE53761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18" b="20927"/>
          <a:stretch/>
        </p:blipFill>
        <p:spPr>
          <a:xfrm>
            <a:off x="3729654" y="10968067"/>
            <a:ext cx="2141891" cy="131500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56BB4DE1-B3FA-0CB2-210E-ECF87CCC3EE3}"/>
              </a:ext>
            </a:extLst>
          </p:cNvPr>
          <p:cNvSpPr txBox="1"/>
          <p:nvPr/>
        </p:nvSpPr>
        <p:spPr>
          <a:xfrm>
            <a:off x="1076090" y="7983201"/>
            <a:ext cx="74490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Este código exibe todos os itens da mochila, um por um, como revisar suas conquistas no final de uma missão.</a:t>
            </a:r>
          </a:p>
        </p:txBody>
      </p:sp>
      <p:pic>
        <p:nvPicPr>
          <p:cNvPr id="5" name="Imagem 4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46B863B0-232E-BB3D-3177-A4308350B1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04" y="4003515"/>
            <a:ext cx="9807757" cy="397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724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BC33934-6DB4-336C-E922-4C83B01F2A9B}"/>
              </a:ext>
            </a:extLst>
          </p:cNvPr>
          <p:cNvSpPr txBox="1"/>
          <p:nvPr/>
        </p:nvSpPr>
        <p:spPr>
          <a:xfrm>
            <a:off x="126845" y="3852076"/>
            <a:ext cx="93475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dirty="0">
                <a:solidFill>
                  <a:srgbClr val="FFC000"/>
                </a:solidFill>
                <a:latin typeface="LLPixel" panose="00000400000000000000" pitchFamily="2" charset="0"/>
                <a:ea typeface="LLPixel" panose="00000400000000000000" pitchFamily="2" charset="0"/>
              </a:rPr>
              <a:t>Desafios de Chefão - Projetos Finais</a:t>
            </a:r>
          </a:p>
        </p:txBody>
      </p:sp>
      <p:pic>
        <p:nvPicPr>
          <p:cNvPr id="4" name="Imagem 3" descr="Uma imagem contendo Logotipo&#10;&#10;Descrição gerada automaticamente">
            <a:extLst>
              <a:ext uri="{FF2B5EF4-FFF2-40B4-BE49-F238E27FC236}">
                <a16:creationId xmlns:a16="http://schemas.microsoft.com/office/drawing/2014/main" id="{FBA2C15C-FF43-6323-2A3A-E15F93CA67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18" b="20927"/>
          <a:stretch/>
        </p:blipFill>
        <p:spPr>
          <a:xfrm>
            <a:off x="2318597" y="6246917"/>
            <a:ext cx="4964005" cy="3047629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3D6D9F7-384B-B3BF-1E27-AADD6E9ED4A1}"/>
              </a:ext>
            </a:extLst>
          </p:cNvPr>
          <p:cNvSpPr txBox="1"/>
          <p:nvPr/>
        </p:nvSpPr>
        <p:spPr>
          <a:xfrm>
            <a:off x="2397512" y="1554934"/>
            <a:ext cx="4806174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600" dirty="0">
                <a:solidFill>
                  <a:srgbClr val="00B0F0"/>
                </a:solidFill>
                <a:latin typeface="LLPixel" panose="00000400000000000000" pitchFamily="2" charset="0"/>
                <a:ea typeface="LLPixel" panose="00000400000000000000" pitchFamily="2" charset="0"/>
              </a:rPr>
              <a:t>7</a:t>
            </a:r>
            <a:endParaRPr lang="pt-BR" sz="16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9753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5055D1A3-6400-A224-9CFC-3CF80F89B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-2512765"/>
            <a:ext cx="1625605" cy="502553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02D14F6-4272-4915-47E3-B7674E71684E}"/>
              </a:ext>
            </a:extLst>
          </p:cNvPr>
          <p:cNvSpPr txBox="1"/>
          <p:nvPr/>
        </p:nvSpPr>
        <p:spPr>
          <a:xfrm>
            <a:off x="1076091" y="1770942"/>
            <a:ext cx="744901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b="1" dirty="0"/>
              <a:t>Criando um Jogo Simples</a:t>
            </a:r>
          </a:p>
          <a:p>
            <a:r>
              <a:rPr lang="pt-BR" sz="2400" dirty="0"/>
              <a:t>Agora que você dominou as habilidades básicas, vamos criar um jogo simples. Este projeto será o seu desafio de chefão, onde você aplica tudo o que aprendeu</a:t>
            </a:r>
            <a:r>
              <a:rPr lang="pt-BR" sz="3200" dirty="0"/>
              <a:t>.</a:t>
            </a:r>
          </a:p>
        </p:txBody>
      </p:sp>
      <p:pic>
        <p:nvPicPr>
          <p:cNvPr id="6" name="Imagem 5" descr="Uma imagem contendo Logotipo&#10;&#10;Descrição gerada automaticamente">
            <a:extLst>
              <a:ext uri="{FF2B5EF4-FFF2-40B4-BE49-F238E27FC236}">
                <a16:creationId xmlns:a16="http://schemas.microsoft.com/office/drawing/2014/main" id="{319AB0C0-D378-8460-141D-F82AE53761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18" b="20927"/>
          <a:stretch/>
        </p:blipFill>
        <p:spPr>
          <a:xfrm>
            <a:off x="3729654" y="10968067"/>
            <a:ext cx="2141891" cy="131500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56BB4DE1-B3FA-0CB2-210E-ECF87CCC3EE3}"/>
              </a:ext>
            </a:extLst>
          </p:cNvPr>
          <p:cNvSpPr txBox="1"/>
          <p:nvPr/>
        </p:nvSpPr>
        <p:spPr>
          <a:xfrm>
            <a:off x="1039580" y="9210694"/>
            <a:ext cx="74490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Este pequeno jogo de batalha usa funções, loops e condicionais. Assim como enfrentar um chefão, você vai precisar de todas as suas habilidades para vencer.</a:t>
            </a:r>
          </a:p>
        </p:txBody>
      </p:sp>
      <p:pic>
        <p:nvPicPr>
          <p:cNvPr id="7" name="Imagem 6" descr="Texto&#10;&#10;Descrição gerada automaticamente">
            <a:extLst>
              <a:ext uri="{FF2B5EF4-FFF2-40B4-BE49-F238E27FC236}">
                <a16:creationId xmlns:a16="http://schemas.microsoft.com/office/drawing/2014/main" id="{EEB336F1-9E8E-4E86-7EA8-933CA4D9EF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88" y="3896088"/>
            <a:ext cx="8251903" cy="531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832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E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BC33934-6DB4-336C-E922-4C83B01F2A9B}"/>
              </a:ext>
            </a:extLst>
          </p:cNvPr>
          <p:cNvSpPr txBox="1"/>
          <p:nvPr/>
        </p:nvSpPr>
        <p:spPr>
          <a:xfrm>
            <a:off x="0" y="2258129"/>
            <a:ext cx="93475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dirty="0">
                <a:solidFill>
                  <a:srgbClr val="FFC000"/>
                </a:solidFill>
                <a:latin typeface="LLPixel" panose="00000400000000000000" pitchFamily="2" charset="0"/>
                <a:ea typeface="LLPixel" panose="00000400000000000000" pitchFamily="2" charset="0"/>
              </a:rPr>
              <a:t>CONGRATULATIONS!!!!</a:t>
            </a:r>
          </a:p>
        </p:txBody>
      </p:sp>
      <p:pic>
        <p:nvPicPr>
          <p:cNvPr id="4" name="Imagem 3" descr="Uma imagem contendo Logotipo&#10;&#10;Descrição gerada automaticamente">
            <a:extLst>
              <a:ext uri="{FF2B5EF4-FFF2-40B4-BE49-F238E27FC236}">
                <a16:creationId xmlns:a16="http://schemas.microsoft.com/office/drawing/2014/main" id="{FBA2C15C-FF43-6323-2A3A-E15F93CA67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218" b="20927"/>
          <a:stretch/>
        </p:blipFill>
        <p:spPr>
          <a:xfrm>
            <a:off x="2318597" y="9019656"/>
            <a:ext cx="4964005" cy="3047629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3D6D9F7-384B-B3BF-1E27-AADD6E9ED4A1}"/>
              </a:ext>
            </a:extLst>
          </p:cNvPr>
          <p:cNvSpPr txBox="1"/>
          <p:nvPr/>
        </p:nvSpPr>
        <p:spPr>
          <a:xfrm>
            <a:off x="781573" y="3521551"/>
            <a:ext cx="796502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>
                <a:solidFill>
                  <a:srgbClr val="00B0F0"/>
                </a:solidFill>
                <a:latin typeface="LLPixel" panose="00000400000000000000" pitchFamily="2" charset="0"/>
                <a:ea typeface="LLPixel" panose="00000400000000000000" pitchFamily="2" charset="0"/>
              </a:rPr>
              <a:t>Parabéns! Você completou sua primeira jornada no mundo da programação com Python. Continue praticando e explorando novos desafios. Assim como em qualquer jogo, quanto mais você jogar, melhor você ficará. Boa sorte, jovem herói da programação!</a:t>
            </a:r>
            <a:endParaRPr lang="pt-BR" sz="3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6845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</TotalTime>
  <Words>622</Words>
  <Application>Microsoft Office PowerPoint</Application>
  <PresentationFormat>Papel A3 (297 x 420 mm)</PresentationFormat>
  <Paragraphs>56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LLPixel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PABLO VINICIUS GONCALVES SILVA</dc:creator>
  <cp:lastModifiedBy>PABLO VINICIUS GONCALVES SILVA</cp:lastModifiedBy>
  <cp:revision>2</cp:revision>
  <dcterms:created xsi:type="dcterms:W3CDTF">2024-05-29T19:38:15Z</dcterms:created>
  <dcterms:modified xsi:type="dcterms:W3CDTF">2024-05-29T21:39:25Z</dcterms:modified>
</cp:coreProperties>
</file>